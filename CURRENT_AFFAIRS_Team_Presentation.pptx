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Team photo" descr="team_crop.jpg">    </p:cNvPr>
          <p:cNvPicPr>
            <a:picLocks noChangeAspect="1"/>
          </p:cNvPicPr>
          <p:nvPr/>
        </p:nvPicPr>
        <p:blipFill>
          <a:blip r:embed="rId1"/>
          <a:stretch>
            <a:fillRect/>
          </a:stretch>
        </p:blipFill>
        <p:spPr>
          <a:xfrm>
            <a:off x="0" y="0"/>
            <a:ext cx="6603835" cy="4021566"/>
          </a:xfrm>
          <a:prstGeom prst="rect">
            <a:avLst/>
          </a:prstGeom>
        </p:spPr>
      </p:pic>
      <p:sp>
        <p:nvSpPr>
          <p:cNvPr id="3" name="Text 0"/>
          <p:cNvSpPr txBox="1"/>
          <p:nvPr/>
        </p:nvSpPr>
        <p:spPr>
          <a:xfrm>
            <a:off x="6773164" y="84665"/>
            <a:ext cx="2539937" cy="338658"/>
          </a:xfrm>
          <a:prstGeom prst="rect">
            <a:avLst/>
          </a:prstGeom>
          <a:noFill/>
          <a:ln/>
        </p:spPr>
        <p:txBody>
          <a:bodyPr wrap="square" lIns="0" tIns="0" rIns="0" bIns="0" rtlCol="0" anchor="ctr"/>
          <a:lstStyle/>
          <a:p>
            <a:pPr indent="0" marL="0">
              <a:buNone/>
            </a:pPr>
            <a:r>
              <a:rPr lang="en-US" sz="2000" b="1" dirty="0">
                <a:solidFill>
                  <a:srgbClr val="000000"/>
                </a:solidFill>
                <a:latin typeface="Calibri" pitchFamily="34" charset="0"/>
                <a:ea typeface="Calibri" pitchFamily="34" charset="-122"/>
                <a:cs typeface="Calibri" pitchFamily="34" charset="-120"/>
              </a:rPr>
              <a:t>Team Name:</a:t>
            </a:r>
            <a:endParaRPr lang="en-US" sz="2000" dirty="0"/>
          </a:p>
        </p:txBody>
      </p:sp>
      <p:sp>
        <p:nvSpPr>
          <p:cNvPr id="4" name="Text 1"/>
          <p:cNvSpPr txBox="1"/>
          <p:nvPr/>
        </p:nvSpPr>
        <p:spPr>
          <a:xfrm>
            <a:off x="8551120" y="84665"/>
            <a:ext cx="3555911" cy="338658"/>
          </a:xfrm>
          <a:prstGeom prst="rect">
            <a:avLst/>
          </a:prstGeom>
          <a:noFill/>
          <a:ln/>
        </p:spPr>
        <p:txBody>
          <a:bodyPr wrap="square" lIns="0" tIns="0" rIns="0" bIns="0" rtlCol="0" anchor="ctr"/>
          <a:lstStyle/>
          <a:p>
            <a:pPr indent="0" marL="0">
              <a:buNone/>
            </a:pPr>
            <a:r>
              <a:rPr lang="en-US" sz="2000" dirty="0">
                <a:solidFill>
                  <a:srgbClr val="000000"/>
                </a:solidFill>
                <a:latin typeface="Calibri" pitchFamily="34" charset="0"/>
                <a:ea typeface="Calibri" pitchFamily="34" charset="-122"/>
                <a:cs typeface="Calibri" pitchFamily="34" charset="-120"/>
              </a:rPr>
              <a:t>CURRENT AFFAIRS</a:t>
            </a:r>
            <a:endParaRPr lang="en-US" sz="2000" dirty="0"/>
          </a:p>
        </p:txBody>
      </p:sp>
      <p:sp>
        <p:nvSpPr>
          <p:cNvPr id="5" name="Text 2"/>
          <p:cNvSpPr txBox="1"/>
          <p:nvPr/>
        </p:nvSpPr>
        <p:spPr>
          <a:xfrm>
            <a:off x="6773164" y="575719"/>
            <a:ext cx="2539937" cy="338658"/>
          </a:xfrm>
          <a:prstGeom prst="rect">
            <a:avLst/>
          </a:prstGeom>
          <a:noFill/>
          <a:ln/>
        </p:spPr>
        <p:txBody>
          <a:bodyPr wrap="square" lIns="0" tIns="0" rIns="0" bIns="0" rtlCol="0" anchor="ctr"/>
          <a:lstStyle/>
          <a:p>
            <a:pPr indent="0" marL="0">
              <a:buNone/>
            </a:pPr>
            <a:r>
              <a:rPr lang="en-US" sz="2000" b="1" dirty="0">
                <a:solidFill>
                  <a:srgbClr val="000000"/>
                </a:solidFill>
                <a:latin typeface="Calibri" pitchFamily="34" charset="0"/>
                <a:ea typeface="Calibri" pitchFamily="34" charset="-122"/>
                <a:cs typeface="Calibri" pitchFamily="34" charset="-120"/>
              </a:rPr>
              <a:t>Team ID :</a:t>
            </a:r>
            <a:endParaRPr lang="en-US" sz="2000" dirty="0"/>
          </a:p>
        </p:txBody>
      </p:sp>
      <p:sp>
        <p:nvSpPr>
          <p:cNvPr id="6" name="Text 3"/>
          <p:cNvSpPr txBox="1"/>
          <p:nvPr/>
        </p:nvSpPr>
        <p:spPr>
          <a:xfrm>
            <a:off x="8381790" y="575719"/>
            <a:ext cx="3725240" cy="338658"/>
          </a:xfrm>
          <a:prstGeom prst="rect">
            <a:avLst/>
          </a:prstGeom>
          <a:noFill/>
          <a:ln/>
        </p:spPr>
        <p:txBody>
          <a:bodyPr wrap="square" lIns="0" tIns="0" rIns="0" bIns="0" rtlCol="0" anchor="ctr"/>
          <a:lstStyle/>
          <a:p>
            <a:pPr indent="0" marL="0">
              <a:buNone/>
            </a:pPr>
            <a:r>
              <a:rPr lang="en-US" sz="2000" dirty="0">
                <a:solidFill>
                  <a:srgbClr val="000000"/>
                </a:solidFill>
                <a:latin typeface="Calibri" pitchFamily="34" charset="0"/>
                <a:ea typeface="Calibri" pitchFamily="34" charset="-122"/>
                <a:cs typeface="Calibri" pitchFamily="34" charset="-120"/>
              </a:rPr>
              <a:t>EC013</a:t>
            </a:r>
            <a:endParaRPr lang="en-US" sz="2000" dirty="0"/>
          </a:p>
        </p:txBody>
      </p:sp>
      <p:sp>
        <p:nvSpPr>
          <p:cNvPr id="7" name="Text 4"/>
          <p:cNvSpPr txBox="1"/>
          <p:nvPr/>
        </p:nvSpPr>
        <p:spPr>
          <a:xfrm>
            <a:off x="6773164" y="1066773"/>
            <a:ext cx="2539937" cy="338658"/>
          </a:xfrm>
          <a:prstGeom prst="rect">
            <a:avLst/>
          </a:prstGeom>
          <a:noFill/>
          <a:ln/>
        </p:spPr>
        <p:txBody>
          <a:bodyPr wrap="square" lIns="0" tIns="0" rIns="0" bIns="0" rtlCol="0" anchor="ctr"/>
          <a:lstStyle/>
          <a:p>
            <a:pPr indent="0" marL="0">
              <a:buNone/>
            </a:pPr>
            <a:r>
              <a:rPr lang="en-US" sz="2000" b="1" dirty="0">
                <a:solidFill>
                  <a:srgbClr val="000000"/>
                </a:solidFill>
                <a:latin typeface="Calibri" pitchFamily="34" charset="0"/>
                <a:ea typeface="Calibri" pitchFamily="34" charset="-122"/>
                <a:cs typeface="Calibri" pitchFamily="34" charset="-120"/>
              </a:rPr>
              <a:t>Members name:</a:t>
            </a:r>
            <a:endParaRPr lang="en-US" sz="2000" dirty="0"/>
          </a:p>
        </p:txBody>
      </p:sp>
      <p:sp>
        <p:nvSpPr>
          <p:cNvPr id="8" name="Text 5"/>
          <p:cNvSpPr txBox="1"/>
          <p:nvPr/>
        </p:nvSpPr>
        <p:spPr>
          <a:xfrm>
            <a:off x="9228436" y="1066773"/>
            <a:ext cx="2878595" cy="1439297"/>
          </a:xfrm>
          <a:prstGeom prst="rect">
            <a:avLst/>
          </a:prstGeom>
          <a:noFill/>
          <a:ln/>
        </p:spPr>
        <p:txBody>
          <a:bodyPr wrap="square" lIns="0" tIns="0" rIns="0" bIns="0" rtlCol="0" anchor="t"/>
          <a:lstStyle/>
          <a:p>
            <a:pPr indent="0" marL="0">
              <a:buNone/>
            </a:pPr>
            <a:r>
              <a:rPr lang="en-US" sz="2000" dirty="0">
                <a:solidFill>
                  <a:srgbClr val="000000"/>
                </a:solidFill>
                <a:latin typeface="Calibri" pitchFamily="34" charset="0"/>
                <a:ea typeface="Calibri" pitchFamily="34" charset="-122"/>
                <a:cs typeface="Calibri" pitchFamily="34" charset="-120"/>
              </a:rPr>
              <a:t>Ragupathi V</a:t>
            </a:r>
            <a:endParaRPr lang="en-US" sz="2000" dirty="0"/>
          </a:p>
          <a:p>
            <a:pPr indent="0" marL="0">
              <a:buNone/>
            </a:pPr>
            <a:r>
              <a:rPr lang="en-US" sz="2000" dirty="0">
                <a:solidFill>
                  <a:srgbClr val="000000"/>
                </a:solidFill>
                <a:latin typeface="Calibri" pitchFamily="34" charset="0"/>
                <a:ea typeface="Calibri" pitchFamily="34" charset="-122"/>
                <a:cs typeface="Calibri" pitchFamily="34" charset="-120"/>
              </a:rPr>
              <a:t>Navin Kumar S</a:t>
            </a:r>
            <a:endParaRPr lang="en-US" sz="2000" dirty="0"/>
          </a:p>
          <a:p>
            <a:pPr indent="0" marL="0">
              <a:buNone/>
            </a:pPr>
            <a:r>
              <a:rPr lang="en-US" sz="2000" dirty="0">
                <a:solidFill>
                  <a:srgbClr val="000000"/>
                </a:solidFill>
                <a:latin typeface="Calibri" pitchFamily="34" charset="0"/>
                <a:ea typeface="Calibri" pitchFamily="34" charset="-122"/>
                <a:cs typeface="Calibri" pitchFamily="34" charset="-120"/>
              </a:rPr>
              <a:t>Vignesh R</a:t>
            </a:r>
            <a:endParaRPr lang="en-US" sz="2000" dirty="0"/>
          </a:p>
          <a:p>
            <a:pPr indent="0" marL="0">
              <a:buNone/>
            </a:pPr>
            <a:r>
              <a:rPr lang="en-US" sz="2000" dirty="0">
                <a:solidFill>
                  <a:srgbClr val="000000"/>
                </a:solidFill>
                <a:latin typeface="Calibri" pitchFamily="34" charset="0"/>
                <a:ea typeface="Calibri" pitchFamily="34" charset="-122"/>
                <a:cs typeface="Calibri" pitchFamily="34" charset="-120"/>
              </a:rPr>
              <a:t>Yashvanth B</a:t>
            </a:r>
            <a:endParaRPr lang="en-US" sz="2000" dirty="0"/>
          </a:p>
        </p:txBody>
      </p:sp>
      <p:sp>
        <p:nvSpPr>
          <p:cNvPr id="9" name="Text 6"/>
          <p:cNvSpPr txBox="1"/>
          <p:nvPr/>
        </p:nvSpPr>
        <p:spPr>
          <a:xfrm>
            <a:off x="6773164" y="2539937"/>
            <a:ext cx="2539937" cy="338658"/>
          </a:xfrm>
          <a:prstGeom prst="rect">
            <a:avLst/>
          </a:prstGeom>
          <a:noFill/>
          <a:ln/>
        </p:spPr>
        <p:txBody>
          <a:bodyPr wrap="square" lIns="0" tIns="0" rIns="0" bIns="0" rtlCol="0" anchor="ctr"/>
          <a:lstStyle/>
          <a:p>
            <a:pPr indent="0" marL="0">
              <a:buNone/>
            </a:pPr>
            <a:r>
              <a:rPr lang="en-US" sz="2000" b="1" dirty="0">
                <a:solidFill>
                  <a:srgbClr val="000000"/>
                </a:solidFill>
                <a:latin typeface="Calibri" pitchFamily="34" charset="0"/>
                <a:ea typeface="Calibri" pitchFamily="34" charset="-122"/>
                <a:cs typeface="Calibri" pitchFamily="34" charset="-120"/>
              </a:rPr>
              <a:t>Faculty Mentor Name:</a:t>
            </a:r>
            <a:endParaRPr lang="en-US" sz="2000" dirty="0"/>
          </a:p>
        </p:txBody>
      </p:sp>
      <p:sp>
        <p:nvSpPr>
          <p:cNvPr id="10" name="Text 7"/>
          <p:cNvSpPr txBox="1"/>
          <p:nvPr/>
        </p:nvSpPr>
        <p:spPr>
          <a:xfrm>
            <a:off x="9465497" y="2539937"/>
            <a:ext cx="2641534" cy="338658"/>
          </a:xfrm>
          <a:prstGeom prst="rect">
            <a:avLst/>
          </a:prstGeom>
          <a:noFill/>
          <a:ln/>
        </p:spPr>
        <p:txBody>
          <a:bodyPr wrap="square" lIns="0" tIns="0" rIns="0" bIns="0" rtlCol="0" anchor="ctr"/>
          <a:lstStyle/>
          <a:p>
            <a:pPr indent="0" marL="0">
              <a:buNone/>
            </a:pPr>
            <a:r>
              <a:rPr lang="en-US" sz="2000" dirty="0">
                <a:solidFill>
                  <a:srgbClr val="000000"/>
                </a:solidFill>
                <a:latin typeface="Calibri" pitchFamily="34" charset="0"/>
                <a:ea typeface="Calibri" pitchFamily="34" charset="-122"/>
                <a:cs typeface="Calibri" pitchFamily="34" charset="-120"/>
              </a:rPr>
              <a:t>Dr. Kamalakannan S</a:t>
            </a:r>
            <a:endParaRPr lang="en-US" sz="2000" dirty="0"/>
          </a:p>
        </p:txBody>
      </p:sp>
      <p:sp>
        <p:nvSpPr>
          <p:cNvPr id="11" name="Text 8"/>
          <p:cNvSpPr txBox="1"/>
          <p:nvPr/>
        </p:nvSpPr>
        <p:spPr>
          <a:xfrm>
            <a:off x="6773164" y="2980192"/>
            <a:ext cx="2539937" cy="338658"/>
          </a:xfrm>
          <a:prstGeom prst="rect">
            <a:avLst/>
          </a:prstGeom>
          <a:noFill/>
          <a:ln/>
        </p:spPr>
        <p:txBody>
          <a:bodyPr wrap="square" lIns="0" tIns="0" rIns="0" bIns="0" rtlCol="0" anchor="ctr"/>
          <a:lstStyle/>
          <a:p>
            <a:pPr indent="0" marL="0">
              <a:buNone/>
            </a:pPr>
            <a:r>
              <a:rPr lang="en-US" sz="2000" b="1" dirty="0">
                <a:solidFill>
                  <a:srgbClr val="000000"/>
                </a:solidFill>
                <a:latin typeface="Calibri" pitchFamily="34" charset="0"/>
                <a:ea typeface="Calibri" pitchFamily="34" charset="-122"/>
                <a:cs typeface="Calibri" pitchFamily="34" charset="-120"/>
              </a:rPr>
              <a:t>PS NO:</a:t>
            </a:r>
            <a:endParaRPr lang="en-US" sz="2000" dirty="0"/>
          </a:p>
        </p:txBody>
      </p:sp>
      <p:sp>
        <p:nvSpPr>
          <p:cNvPr id="12" name="Text 9"/>
          <p:cNvSpPr txBox="1"/>
          <p:nvPr/>
        </p:nvSpPr>
        <p:spPr>
          <a:xfrm>
            <a:off x="7746806" y="2980192"/>
            <a:ext cx="4360224" cy="338658"/>
          </a:xfrm>
          <a:prstGeom prst="rect">
            <a:avLst/>
          </a:prstGeom>
          <a:noFill/>
          <a:ln/>
        </p:spPr>
        <p:txBody>
          <a:bodyPr wrap="square" lIns="0" tIns="0" rIns="0" bIns="0" rtlCol="0" anchor="ctr"/>
          <a:lstStyle/>
          <a:p>
            <a:pPr indent="0" marL="0">
              <a:buNone/>
            </a:pPr>
            <a:r>
              <a:rPr lang="en-US" sz="2000" dirty="0">
                <a:solidFill>
                  <a:srgbClr val="000000"/>
                </a:solidFill>
                <a:latin typeface="Calibri" pitchFamily="34" charset="0"/>
                <a:ea typeface="Calibri" pitchFamily="34" charset="-122"/>
                <a:cs typeface="Calibri" pitchFamily="34" charset="-120"/>
              </a:rPr>
              <a:t>ECW260045</a:t>
            </a:r>
            <a:endParaRPr lang="en-US" sz="2000" dirty="0"/>
          </a:p>
        </p:txBody>
      </p:sp>
      <p:sp>
        <p:nvSpPr>
          <p:cNvPr id="13" name="Text 10"/>
          <p:cNvSpPr txBox="1"/>
          <p:nvPr/>
        </p:nvSpPr>
        <p:spPr>
          <a:xfrm>
            <a:off x="6773164" y="3420448"/>
            <a:ext cx="2539937" cy="338658"/>
          </a:xfrm>
          <a:prstGeom prst="rect">
            <a:avLst/>
          </a:prstGeom>
          <a:noFill/>
          <a:ln/>
        </p:spPr>
        <p:txBody>
          <a:bodyPr wrap="square" lIns="0" tIns="0" rIns="0" bIns="0" rtlCol="0" anchor="ctr"/>
          <a:lstStyle/>
          <a:p>
            <a:pPr indent="0" marL="0">
              <a:buNone/>
            </a:pPr>
            <a:r>
              <a:rPr lang="en-US" sz="2000" b="1" dirty="0">
                <a:solidFill>
                  <a:srgbClr val="000000"/>
                </a:solidFill>
                <a:latin typeface="Calibri" pitchFamily="34" charset="0"/>
                <a:ea typeface="Calibri" pitchFamily="34" charset="-122"/>
                <a:cs typeface="Calibri" pitchFamily="34" charset="-120"/>
              </a:rPr>
              <a:t>Project Title :</a:t>
            </a:r>
            <a:endParaRPr lang="en-US" sz="2000" dirty="0"/>
          </a:p>
        </p:txBody>
      </p:sp>
      <p:sp>
        <p:nvSpPr>
          <p:cNvPr id="14" name="Text 11"/>
          <p:cNvSpPr txBox="1"/>
          <p:nvPr/>
        </p:nvSpPr>
        <p:spPr>
          <a:xfrm>
            <a:off x="8508787" y="3420448"/>
            <a:ext cx="3598243" cy="592652"/>
          </a:xfrm>
          <a:prstGeom prst="rect">
            <a:avLst/>
          </a:prstGeom>
          <a:noFill/>
          <a:ln/>
        </p:spPr>
        <p:txBody>
          <a:bodyPr wrap="square" lIns="0" tIns="0" rIns="0" bIns="0" rtlCol="0" anchor="ctr"/>
          <a:lstStyle/>
          <a:p>
            <a:pPr indent="0" marL="0">
              <a:buNone/>
            </a:pPr>
            <a:r>
              <a:rPr lang="en-US" sz="2000" dirty="0">
                <a:solidFill>
                  <a:srgbClr val="000000"/>
                </a:solidFill>
                <a:latin typeface="Calibri" pitchFamily="34" charset="0"/>
                <a:ea typeface="Calibri" pitchFamily="34" charset="-122"/>
                <a:cs typeface="Calibri" pitchFamily="34" charset="-120"/>
              </a:rPr>
              <a:t>RainGuard: Rain Detection &amp; Outdoor Clothes Protection Alert</a:t>
            </a:r>
            <a:endParaRPr lang="en-US" sz="2000" dirty="0"/>
          </a:p>
        </p:txBody>
      </p:sp>
      <p:sp>
        <p:nvSpPr>
          <p:cNvPr id="15" name="Text 12"/>
          <p:cNvSpPr txBox="1"/>
          <p:nvPr/>
        </p:nvSpPr>
        <p:spPr>
          <a:xfrm>
            <a:off x="118530" y="4190895"/>
            <a:ext cx="5926519" cy="423323"/>
          </a:xfrm>
          <a:prstGeom prst="rect">
            <a:avLst/>
          </a:prstGeom>
          <a:noFill/>
          <a:ln/>
        </p:spPr>
        <p:txBody>
          <a:bodyPr wrap="square" lIns="0" tIns="0" rIns="0" bIns="0" rtlCol="0" anchor="ctr"/>
          <a:lstStyle/>
          <a:p>
            <a:pPr indent="0" marL="0">
              <a:buNone/>
            </a:pPr>
            <a:r>
              <a:rPr lang="en-US" sz="2400" b="1" dirty="0">
                <a:solidFill>
                  <a:srgbClr val="000000"/>
                </a:solidFill>
                <a:latin typeface="Calibri" pitchFamily="34" charset="0"/>
                <a:ea typeface="Calibri" pitchFamily="34" charset="-122"/>
                <a:cs typeface="Calibri" pitchFamily="34" charset="-120"/>
              </a:rPr>
              <a:t>Project Description:</a:t>
            </a:r>
            <a:endParaRPr lang="en-US" sz="2400" dirty="0"/>
          </a:p>
        </p:txBody>
      </p:sp>
      <p:sp>
        <p:nvSpPr>
          <p:cNvPr id="16" name="Text 13"/>
          <p:cNvSpPr txBox="1"/>
          <p:nvPr/>
        </p:nvSpPr>
        <p:spPr>
          <a:xfrm>
            <a:off x="118530" y="4656550"/>
            <a:ext cx="11937702" cy="2031949"/>
          </a:xfrm>
          <a:prstGeom prst="rect">
            <a:avLst/>
          </a:prstGeom>
          <a:noFill/>
          <a:ln/>
        </p:spPr>
        <p:txBody>
          <a:bodyPr wrap="square" lIns="0" tIns="0" rIns="0" bIns="0" rtlCol="0" anchor="t"/>
          <a:lstStyle/>
          <a:p>
            <a:pPr indent="0" marL="0">
              <a:buNone/>
            </a:pPr>
            <a:r>
              <a:rPr lang="en-US" sz="2000" dirty="0">
                <a:solidFill>
                  <a:srgbClr val="000000"/>
                </a:solidFill>
                <a:latin typeface="Calibri" pitchFamily="34" charset="0"/>
                <a:ea typeface="Calibri" pitchFamily="34" charset="-122"/>
                <a:cs typeface="Calibri" pitchFamily="34" charset="-120"/>
              </a:rPr>
              <a:t>RainGuard detects rain using a rain sensor (with a humidity sensor to avoid false alarms) connected to an Arduino microcontroller. When rain is sensed, the Arduino drives a small motor-based model mechanism that slides the clothes line under shelter, protecting the clothes without anyone being present. Once the rain stops and the sensor dries, the clothes are moved back out automatically, with a manual override switch available. The solution is low-cost, simple to build and useful for homes, hostels and apartments.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CURRENT AFFAIRS - ECW260045</dc:title>
  <dc:subject>PptxGenJS Presentation</dc:subject>
  <dc:creator>PptxGenJS</dc:creator>
  <cp:lastModifiedBy>PptxGenJS</cp:lastModifiedBy>
  <cp:revision>1</cp:revision>
  <dcterms:created xsi:type="dcterms:W3CDTF">2026-10-26T06:27:05Z</dcterms:created>
  <dcterms:modified xsi:type="dcterms:W3CDTF">2026-10-26T06:27:05Z</dcterms:modified>
</cp:coreProperties>
</file>